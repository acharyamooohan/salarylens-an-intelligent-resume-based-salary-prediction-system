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918400" cy="43891200"/>
  <p:notesSz cx="12193588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9" d="100"/>
          <a:sy n="49" d="100"/>
        </p:scale>
        <p:origin x="1747" y="-70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7DBC5FC-1E6F-48C4-A4B7-D378D58867A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7920" y="95400"/>
            <a:ext cx="1243080" cy="349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600" b="0" strike="noStrike" spc="-1">
                <a:solidFill>
                  <a:srgbClr val="000000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7920" y="479520"/>
            <a:ext cx="1243080" cy="1141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920" indent="-34920">
              <a:lnSpc>
                <a:spcPct val="90000"/>
              </a:lnSpc>
              <a:spcBef>
                <a:spcPts val="162"/>
              </a:spcBef>
              <a:buClr>
                <a:srgbClr val="000000"/>
              </a:buClr>
              <a:buFont typeface="Arial"/>
              <a:buChar char="•"/>
              <a:tabLst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108000" lvl="1" indent="-34920">
              <a:lnSpc>
                <a:spcPct val="90000"/>
              </a:lnSpc>
              <a:spcBef>
                <a:spcPts val="162"/>
              </a:spcBef>
              <a:buClr>
                <a:srgbClr val="000000"/>
              </a:buClr>
              <a:buFont typeface="Arial"/>
              <a:buChar char="•"/>
              <a:tabLst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79280" lvl="2" indent="-34920">
              <a:lnSpc>
                <a:spcPct val="90000"/>
              </a:lnSpc>
              <a:spcBef>
                <a:spcPts val="162"/>
              </a:spcBef>
              <a:buClr>
                <a:srgbClr val="000000"/>
              </a:buClr>
              <a:buFont typeface="Arial"/>
              <a:buChar char="•"/>
              <a:tabLst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250920" lvl="3" indent="-34920">
              <a:lnSpc>
                <a:spcPct val="90000"/>
              </a:lnSpc>
              <a:spcBef>
                <a:spcPts val="162"/>
              </a:spcBef>
              <a:buClr>
                <a:srgbClr val="000000"/>
              </a:buClr>
              <a:buFont typeface="Arial"/>
              <a:buChar char="•"/>
              <a:tabLst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324000" lvl="4" indent="-34920">
              <a:lnSpc>
                <a:spcPct val="90000"/>
              </a:lnSpc>
              <a:spcBef>
                <a:spcPts val="162"/>
              </a:spcBef>
              <a:buClr>
                <a:srgbClr val="000000"/>
              </a:buClr>
              <a:buFont typeface="Arial"/>
              <a:buChar char="•"/>
              <a:tabLst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324000" lvl="5" indent="-34920">
              <a:lnSpc>
                <a:spcPct val="90000"/>
              </a:lnSpc>
              <a:spcBef>
                <a:spcPts val="162"/>
              </a:spcBef>
              <a:buClr>
                <a:srgbClr val="000000"/>
              </a:buClr>
              <a:buFont typeface="Arial"/>
              <a:buChar char="•"/>
              <a:tabLst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24000" lvl="6" indent="-34920">
              <a:lnSpc>
                <a:spcPct val="90000"/>
              </a:lnSpc>
              <a:spcBef>
                <a:spcPts val="162"/>
              </a:spcBef>
              <a:buClr>
                <a:srgbClr val="000000"/>
              </a:buClr>
              <a:buFont typeface="Arial"/>
              <a:buChar char="•"/>
              <a:tabLst>
                <a:tab pos="142920" algn="l"/>
                <a:tab pos="285840" algn="l"/>
                <a:tab pos="428760" algn="l"/>
                <a:tab pos="571680" algn="l"/>
                <a:tab pos="714240" algn="l"/>
                <a:tab pos="857160" algn="l"/>
                <a:tab pos="1000080" algn="l"/>
                <a:tab pos="1143000" algn="l"/>
                <a:tab pos="1285920" algn="l"/>
                <a:tab pos="1428840" algn="l"/>
                <a:tab pos="1571760" algn="l"/>
                <a:tab pos="1714680" algn="l"/>
                <a:tab pos="1857240" algn="l"/>
                <a:tab pos="2000160" algn="l"/>
                <a:tab pos="2143080" algn="l"/>
                <a:tab pos="2286000" algn="l"/>
                <a:tab pos="2428920" algn="l"/>
                <a:tab pos="2571840" algn="l"/>
                <a:tab pos="2714760" algn="l"/>
                <a:tab pos="285768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98280" y="1668600"/>
            <a:ext cx="324000" cy="9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D76F99D-CC43-4011-9399-4F497A4608DF}" type="datetime">
              <a:rPr lang="en-US" sz="100" b="0" strike="noStrike" spc="-1">
                <a:solidFill>
                  <a:srgbClr val="898989"/>
                </a:solidFill>
                <a:latin typeface="Calibri"/>
              </a:rPr>
              <a:t>4/25/2026</a:t>
            </a:fld>
            <a:endParaRPr lang="en-US" sz="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76280" y="1668600"/>
            <a:ext cx="487440" cy="9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ct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" b="0" strike="noStrike" spc="-1">
                <a:solidFill>
                  <a:srgbClr val="898989"/>
                </a:solidFill>
                <a:latin typeface="Calibri"/>
              </a:rPr>
              <a:t>AY 2024-25</a:t>
            </a:r>
            <a:endParaRPr lang="en-US" sz="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017360" y="1668600"/>
            <a:ext cx="323640" cy="9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816CCDE-573D-452C-9738-DBE51E2F4D81}" type="slidenum">
              <a:rPr lang="en-US" sz="1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/>
        </p:nvSpPr>
        <p:spPr>
          <a:xfrm>
            <a:off x="252010" y="10988982"/>
            <a:ext cx="32230180" cy="29491200"/>
          </a:xfrm>
          <a:prstGeom prst="rect">
            <a:avLst/>
          </a:prstGeom>
          <a:solidFill>
            <a:srgbClr val="FFFFFF"/>
          </a:solidFill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3"/>
          <p:cNvSpPr/>
          <p:nvPr/>
        </p:nvSpPr>
        <p:spPr>
          <a:xfrm>
            <a:off x="4502018" y="4039362"/>
            <a:ext cx="23662351" cy="45202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86" b="0" strike="noStrike" spc="-1" dirty="0">
                <a:solidFill>
                  <a:srgbClr val="000000"/>
                </a:solidFill>
                <a:latin typeface="Aptos Black"/>
                <a:ea typeface="Times New Roman"/>
              </a:rPr>
              <a:t>Department of Computer Science and Engineering</a:t>
            </a:r>
            <a:endParaRPr lang="en-US" sz="7086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6"/>
          <p:cNvSpPr/>
          <p:nvPr/>
        </p:nvSpPr>
        <p:spPr>
          <a:xfrm>
            <a:off x="1477353" y="36307749"/>
            <a:ext cx="8888814" cy="60770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6800" rIns="91440" bIns="46800" anchor="t">
            <a:normAutofit/>
          </a:bodyPr>
          <a:lstStyle/>
          <a:p>
            <a:pPr>
              <a:lnSpc>
                <a:spcPct val="115000"/>
              </a:lnSpc>
            </a:pPr>
            <a:r>
              <a:rPr lang="en-GB" sz="2800" b="1" u="sng" strike="noStrike" spc="-1" dirty="0">
                <a:solidFill>
                  <a:srgbClr val="0000CC"/>
                </a:solidFill>
                <a:uFillTx/>
                <a:latin typeface="Abadi"/>
              </a:rPr>
              <a:t>Presentation By:</a:t>
            </a:r>
            <a:endParaRPr lang="en-US" sz="2800" b="0" dirty="0"/>
          </a:p>
          <a:p>
            <a:pPr>
              <a:lnSpc>
                <a:spcPct val="110000"/>
              </a:lnSpc>
            </a:pPr>
            <a:r>
              <a:rPr lang="en-GB" sz="2800" b="1" strike="noStrike" spc="-1" dirty="0">
                <a:solidFill>
                  <a:srgbClr val="000000"/>
                </a:solidFill>
                <a:latin typeface="Abadi"/>
              </a:rPr>
              <a:t>Mohan Acharya (1NT22CS116)</a:t>
            </a:r>
            <a:endParaRPr lang="en-US" sz="2800" b="0" dirty="0"/>
          </a:p>
          <a:p>
            <a:pPr>
              <a:lnSpc>
                <a:spcPct val="110000"/>
              </a:lnSpc>
            </a:pPr>
            <a:r>
              <a:rPr lang="en-GB" sz="2800" b="1" strike="noStrike" spc="-1" dirty="0">
                <a:solidFill>
                  <a:srgbClr val="000000"/>
                </a:solidFill>
                <a:latin typeface="Abadi"/>
              </a:rPr>
              <a:t>Prince Chaudhary (1NT22CS143)</a:t>
            </a:r>
            <a:endParaRPr lang="en-US" sz="2800" b="0" dirty="0"/>
          </a:p>
          <a:p>
            <a:pPr>
              <a:lnSpc>
                <a:spcPct val="110000"/>
              </a:lnSpc>
            </a:pPr>
            <a:r>
              <a:rPr lang="en-GB" sz="2800" b="1" strike="noStrike" spc="-1" dirty="0">
                <a:solidFill>
                  <a:srgbClr val="000000"/>
                </a:solidFill>
                <a:latin typeface="Abadi"/>
              </a:rPr>
              <a:t>Pradeep Badu (1NT22CS133)</a:t>
            </a:r>
            <a:endParaRPr lang="en-US" sz="2800" b="0" dirty="0"/>
          </a:p>
        </p:txBody>
      </p:sp>
      <p:pic>
        <p:nvPicPr>
          <p:cNvPr id="32" name="Picture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8726" y="19526"/>
            <a:ext cx="32625229" cy="3072331"/>
          </a:xfrm>
          <a:prstGeom prst="rect">
            <a:avLst/>
          </a:prstGeom>
          <a:ln w="0">
            <a:noFill/>
          </a:ln>
        </p:spPr>
      </p:pic>
      <p:sp>
        <p:nvSpPr>
          <p:cNvPr id="10" name="TextBox 7"/>
          <p:cNvSpPr/>
          <p:nvPr/>
        </p:nvSpPr>
        <p:spPr>
          <a:xfrm>
            <a:off x="24152431" y="34785656"/>
            <a:ext cx="8888814" cy="23746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74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u="sng" strike="noStrike" spc="-1" dirty="0">
                <a:solidFill>
                  <a:srgbClr val="0000CC"/>
                </a:solidFill>
                <a:uFillTx/>
                <a:latin typeface="Abadi"/>
              </a:rPr>
              <a:t>Guided By: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74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strike="noStrike" spc="-1" dirty="0">
                <a:solidFill>
                  <a:srgbClr val="000000"/>
                </a:solidFill>
                <a:latin typeface="Abadi"/>
              </a:rPr>
              <a:t>Dr. Saroja Devi H.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Footer Placeholder 8"/>
          <p:cNvSpPr/>
          <p:nvPr/>
        </p:nvSpPr>
        <p:spPr>
          <a:xfrm>
            <a:off x="10888797" y="40682057"/>
            <a:ext cx="11143939" cy="23171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362" b="0" strike="noStrike" spc="-1">
                <a:solidFill>
                  <a:srgbClr val="898989"/>
                </a:solidFill>
                <a:latin typeface="Calibri"/>
              </a:rPr>
              <a:t>AY 2025-26</a:t>
            </a:r>
            <a:endParaRPr lang="en-US" sz="2362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3300384" y="7583451"/>
            <a:ext cx="27077960" cy="1941173"/>
          </a:xfrm>
          <a:prstGeom prst="rect">
            <a:avLst/>
          </a:prstGeom>
          <a:solidFill>
            <a:srgbClr val="F4B1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74"/>
              </a:spcBef>
              <a:tabLst>
                <a:tab pos="0" algn="l"/>
                <a:tab pos="108000" algn="l"/>
                <a:tab pos="216000" algn="l"/>
                <a:tab pos="324000" algn="l"/>
                <a:tab pos="431640" algn="l"/>
                <a:tab pos="539640" algn="l"/>
                <a:tab pos="647640" algn="l"/>
                <a:tab pos="755640" algn="l"/>
                <a:tab pos="863640" algn="l"/>
                <a:tab pos="971640" algn="l"/>
                <a:tab pos="1079640" algn="l"/>
                <a:tab pos="1187280" algn="l"/>
                <a:tab pos="1295280" algn="l"/>
                <a:tab pos="1403280" algn="l"/>
                <a:tab pos="1511280" algn="l"/>
                <a:tab pos="1619280" algn="l"/>
                <a:tab pos="1727280" algn="l"/>
                <a:tab pos="1835280" algn="l"/>
                <a:tab pos="1943280" algn="l"/>
                <a:tab pos="2050920" algn="l"/>
                <a:tab pos="2158920" algn="l"/>
              </a:tabLst>
            </a:pPr>
            <a:r>
              <a:rPr lang="en-GB" sz="60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SALARYLENS: AN INTELLIGENT RESUME-BASED SALARY PREDICTION SYSTEM USING STACKING ENSEMBLE LEARNING</a:t>
            </a:r>
            <a:endParaRPr lang="en-US" sz="60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Title 1"/>
          <p:cNvSpPr/>
          <p:nvPr/>
        </p:nvSpPr>
        <p:spPr>
          <a:xfrm>
            <a:off x="2362120" y="17343634"/>
            <a:ext cx="55670311" cy="5354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920" tIns="3960" rIns="7920" bIns="3960" anchor="ctr">
            <a:normAutofit fontScale="32500" lnSpcReduction="20000"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TextBox 23"/>
          <p:cNvSpPr/>
          <p:nvPr/>
        </p:nvSpPr>
        <p:spPr>
          <a:xfrm>
            <a:off x="8308571" y="11049551"/>
            <a:ext cx="16008095" cy="11849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ABSTRACT</a:t>
            </a:r>
            <a:r>
              <a:rPr lang="en-GB" sz="7086" b="1" strike="noStrike" spc="-1" dirty="0">
                <a:solidFill>
                  <a:srgbClr val="000000"/>
                </a:solidFill>
                <a:latin typeface="Abadi"/>
                <a:ea typeface="ADLaM Display"/>
              </a:rPr>
              <a:t> </a:t>
            </a:r>
            <a:endParaRPr lang="en-US" sz="7086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Straight Connector 24"/>
          <p:cNvSpPr/>
          <p:nvPr/>
        </p:nvSpPr>
        <p:spPr>
          <a:xfrm flipV="1">
            <a:off x="252010" y="14970660"/>
            <a:ext cx="32192156" cy="95638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920" rIns="90000" bIns="-43920" anchor="t">
            <a:noAutofit/>
          </a:bodyPr>
          <a:lstStyle/>
          <a:p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Straight Connector 25"/>
          <p:cNvSpPr/>
          <p:nvPr/>
        </p:nvSpPr>
        <p:spPr>
          <a:xfrm flipH="1">
            <a:off x="14617160" y="14982583"/>
            <a:ext cx="74073" cy="10523794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Straight Connector 26"/>
          <p:cNvSpPr/>
          <p:nvPr/>
        </p:nvSpPr>
        <p:spPr>
          <a:xfrm flipV="1">
            <a:off x="213988" y="35608869"/>
            <a:ext cx="32268202" cy="150424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t">
            <a:noAutofit/>
          </a:bodyPr>
          <a:lstStyle/>
          <a:p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Straight Connector 27"/>
          <p:cNvSpPr/>
          <p:nvPr/>
        </p:nvSpPr>
        <p:spPr>
          <a:xfrm flipH="1">
            <a:off x="8765969" y="25672298"/>
            <a:ext cx="68919" cy="10086996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Straight Connector 28"/>
          <p:cNvSpPr/>
          <p:nvPr/>
        </p:nvSpPr>
        <p:spPr>
          <a:xfrm>
            <a:off x="18180915" y="25506378"/>
            <a:ext cx="134607" cy="10102491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TextBox 29"/>
          <p:cNvSpPr/>
          <p:nvPr/>
        </p:nvSpPr>
        <p:spPr>
          <a:xfrm>
            <a:off x="-1925910" y="15108993"/>
            <a:ext cx="18259104" cy="833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OBJECTIVES AND PROBLEM STATEMENT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TextBox 30"/>
          <p:cNvSpPr/>
          <p:nvPr/>
        </p:nvSpPr>
        <p:spPr>
          <a:xfrm>
            <a:off x="14449454" y="15078390"/>
            <a:ext cx="16008095" cy="11849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PROPOSED</a:t>
            </a:r>
            <a:r>
              <a:rPr lang="en-GB" sz="7086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 </a:t>
            </a: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METHODOLGY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Straight Connector 31"/>
          <p:cNvSpPr/>
          <p:nvPr/>
        </p:nvSpPr>
        <p:spPr>
          <a:xfrm flipV="1">
            <a:off x="213988" y="19759320"/>
            <a:ext cx="14440207" cy="19550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TextBox 32"/>
          <p:cNvSpPr/>
          <p:nvPr/>
        </p:nvSpPr>
        <p:spPr>
          <a:xfrm>
            <a:off x="-2098749" y="20180231"/>
            <a:ext cx="16041017" cy="833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 NOVELTY &amp; CONTRIBUTION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TextBox 33"/>
          <p:cNvSpPr/>
          <p:nvPr/>
        </p:nvSpPr>
        <p:spPr>
          <a:xfrm>
            <a:off x="-4127696" y="25842312"/>
            <a:ext cx="14358063" cy="833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RESULTS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TextBox 34"/>
          <p:cNvSpPr/>
          <p:nvPr/>
        </p:nvSpPr>
        <p:spPr>
          <a:xfrm>
            <a:off x="15608090" y="25680514"/>
            <a:ext cx="12241468" cy="833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APPLICATIONS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TextBox 35"/>
          <p:cNvSpPr/>
          <p:nvPr/>
        </p:nvSpPr>
        <p:spPr>
          <a:xfrm>
            <a:off x="7498492" y="25885007"/>
            <a:ext cx="12197428" cy="833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CONCLUSION &amp; FUTURE WORK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Straight Connector 11"/>
          <p:cNvSpPr/>
          <p:nvPr/>
        </p:nvSpPr>
        <p:spPr>
          <a:xfrm flipV="1">
            <a:off x="213989" y="25379223"/>
            <a:ext cx="32230177" cy="355359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t">
            <a:noAutofit/>
          </a:bodyPr>
          <a:lstStyle/>
          <a:p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TextBox 23"/>
          <p:cNvSpPr/>
          <p:nvPr/>
        </p:nvSpPr>
        <p:spPr>
          <a:xfrm>
            <a:off x="-5641928" y="13585175"/>
            <a:ext cx="16008095" cy="11849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KEYWORDS</a:t>
            </a:r>
            <a:r>
              <a:rPr lang="en-GB" sz="7086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 :</a:t>
            </a:r>
            <a:r>
              <a:rPr lang="en-GB" sz="7086" b="1" strike="noStrike" spc="-1" dirty="0">
                <a:solidFill>
                  <a:srgbClr val="000000"/>
                </a:solidFill>
                <a:latin typeface="Abadi"/>
                <a:ea typeface="ADLaM Display"/>
              </a:rPr>
              <a:t> </a:t>
            </a:r>
            <a:endParaRPr lang="en-US" sz="7086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Straight Connector 9"/>
          <p:cNvSpPr/>
          <p:nvPr/>
        </p:nvSpPr>
        <p:spPr>
          <a:xfrm>
            <a:off x="24905900" y="25506377"/>
            <a:ext cx="134608" cy="10102492"/>
          </a:xfrm>
          <a:prstGeom prst="line">
            <a:avLst/>
          </a:prstGeom>
          <a:ln w="148147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TextBox 34"/>
          <p:cNvSpPr/>
          <p:nvPr/>
        </p:nvSpPr>
        <p:spPr>
          <a:xfrm>
            <a:off x="21485881" y="25658982"/>
            <a:ext cx="11741400" cy="833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1"/>
              </a:spcBef>
              <a:tabLst>
                <a:tab pos="0" algn="l"/>
                <a:tab pos="81000" algn="l"/>
                <a:tab pos="162000" algn="l"/>
                <a:tab pos="243000" algn="l"/>
                <a:tab pos="324000" algn="l"/>
                <a:tab pos="404640" algn="l"/>
                <a:tab pos="485640" algn="l"/>
                <a:tab pos="566640" algn="l"/>
                <a:tab pos="647640" algn="l"/>
                <a:tab pos="728640" algn="l"/>
                <a:tab pos="809640" algn="l"/>
                <a:tab pos="890640" algn="l"/>
                <a:tab pos="971640" algn="l"/>
                <a:tab pos="1052640" algn="l"/>
                <a:tab pos="1133640" algn="l"/>
                <a:tab pos="1214280" algn="l"/>
                <a:tab pos="1295280" algn="l"/>
                <a:tab pos="1376280" algn="l"/>
                <a:tab pos="1457280" algn="l"/>
                <a:tab pos="1538280" algn="l"/>
                <a:tab pos="1619280" algn="l"/>
              </a:tabLst>
            </a:pPr>
            <a:r>
              <a:rPr lang="en-GB" sz="4800" b="1" strike="noStrike" spc="-1" dirty="0">
                <a:solidFill>
                  <a:srgbClr val="C00000"/>
                </a:solidFill>
                <a:latin typeface="Abadi"/>
                <a:ea typeface="ADLaM Display"/>
              </a:rPr>
              <a:t>IMPACT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cb_202"/>
          <p:cNvSpPr>
            <a:spLocks noGrp="1"/>
          </p:cNvSpPr>
          <p:nvPr/>
        </p:nvSpPr>
        <p:spPr>
          <a:xfrm>
            <a:off x="584357" y="12296241"/>
            <a:ext cx="31772936" cy="14756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SalaryLens is an intelligent web-based system predicting annual salaries from resume data using advanced ML. It addresses salary information asymmetry for job seekers, employers, and HR professionals. A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stacking ensemble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of XGBoost, Random Forest, Extra Trees, and Neural Networks with Ridge regression as meta-learner achieves </a:t>
            </a: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97.02% R² score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91.29% accuracy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(±10% margin) on 29,850 resumes. 104 engineered features, LLM-based parsing (85%), and a Streamlit web app with what-if analysis deliver a production-ready career planning tool with MAE of $7,071 and sub-second predictions.</a:t>
            </a:r>
            <a:endParaRPr lang="en-US" sz="2400" b="0" dirty="0"/>
          </a:p>
        </p:txBody>
      </p:sp>
      <p:sp>
        <p:nvSpPr>
          <p:cNvPr id="203" name="cb_203"/>
          <p:cNvSpPr>
            <a:spLocks noGrp="1"/>
          </p:cNvSpPr>
          <p:nvPr/>
        </p:nvSpPr>
        <p:spPr>
          <a:xfrm>
            <a:off x="4540365" y="13983505"/>
            <a:ext cx="21585551" cy="7306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Salary Prediction  |  Machine Learning  |  Stacking Ensemble  |  Resume Parsing  |  Feature Engineering  |  Career Analytics  |  Explainable AI</a:t>
            </a:r>
            <a:endParaRPr lang="en-US" sz="2400" b="0" dirty="0"/>
          </a:p>
        </p:txBody>
      </p:sp>
      <p:sp>
        <p:nvSpPr>
          <p:cNvPr id="204" name="cb_204"/>
          <p:cNvSpPr>
            <a:spLocks noGrp="1"/>
          </p:cNvSpPr>
          <p:nvPr/>
        </p:nvSpPr>
        <p:spPr>
          <a:xfrm>
            <a:off x="517702" y="16176061"/>
            <a:ext cx="13830701" cy="32927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1.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Develop high-accuracy prediction model achieving &gt;95% R² across diverse job roles and experience levels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2.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Engineer 100+ features from raw resume data through 10 systematic transformation categories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3.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Integrate LLM-based resume parsing (Groq + Llama 3.1 70B) with &gt;80% extraction accuracy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4.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Implement SHAP explainability for transparent, interpretable salary predictions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5.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Deploy interactive what-if tools and production-ready web app on Streamlit Cloud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Problem Statement: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Develop an accurate, transparent system predicting annual salaries from resume analysis, providing actionable career insights and addressing information asymmetry in salary negotiation.</a:t>
            </a:r>
            <a:endParaRPr lang="en-US" sz="2400" b="0" dirty="0"/>
          </a:p>
        </p:txBody>
      </p:sp>
      <p:sp>
        <p:nvSpPr>
          <p:cNvPr id="205" name="cb_205"/>
          <p:cNvSpPr>
            <a:spLocks noGrp="1"/>
          </p:cNvSpPr>
          <p:nvPr/>
        </p:nvSpPr>
        <p:spPr>
          <a:xfrm>
            <a:off x="535432" y="21544635"/>
            <a:ext cx="13830701" cy="33616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[S1]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State-of-the-Art: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97.02% R², advanced from prior best 94.5% using novel 4-model + Ridge meta-learner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[S2]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Feature Pipeline: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7.79% R² boost over raw features; ablation study validates each of 10 categories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[T1]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Hybrid Parsing: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Groq/Llama 3.1 70B (85%, 2-3s) + regex fallback (70%, &lt;1s) for reliability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[T2]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What-If Analysis: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5 career scenarios: skill upgrades, relocation, promotion, education, growth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[P1]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Societal Impact: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Reduces information asymmetry; promotes fair, transparent compensation for all</a:t>
            </a:r>
            <a:endParaRPr lang="en-US" sz="2400" b="0" dirty="0"/>
          </a:p>
        </p:txBody>
      </p:sp>
      <p:sp>
        <p:nvSpPr>
          <p:cNvPr id="206" name="cb_206"/>
          <p:cNvSpPr>
            <a:spLocks noGrp="1"/>
          </p:cNvSpPr>
          <p:nvPr/>
        </p:nvSpPr>
        <p:spPr>
          <a:xfrm>
            <a:off x="15366125" y="16673629"/>
            <a:ext cx="8281710" cy="78463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rmAutofit lnSpcReduction="10000"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Pipeline: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Resume Upload → LLM Parsing (Groq/Llama 3.1 70B, 85%) → Feature Eng. (15→104 features, 10 categories) → Stacking Ensemble → Real-time Prediction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Base Learners: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• XGBoost: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1000 estimators, lr=0.02, R²=96.98%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• Random Forest: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400 estimators, max depth 20, R²=92.64%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• Extra Trees: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400 estimators, extreme randomness, R²=94.66%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• Neural Network: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256-128-64 layers, ReLU activation, R²=94.63%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Meta-Learner: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Ridge Regression (α=5.0), 3-fold CV → Final R²: 97.02%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Feature Engineering: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10 categories: Ordinal (4), Binning (1), Polynomial (2), Interaction (12), Ratio (3), Achievement (4), Location (3), Target Encoding (6), Frequency (4), TF-IDF Skills (60) = 104 total features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Data: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29,850 records (from 30,000 after outlier removal), 85% train / 15% test split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Resume Parsing: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Primary: Groq API + Llama 3.1 70B (85%, 2-3s)  |  Fallback: Regex-based (70%, &lt;1s)  |  Formats: PDF, DOCX, TXT</a:t>
            </a:r>
            <a:endParaRPr lang="en-US" sz="2400" b="0" dirty="0"/>
          </a:p>
        </p:txBody>
      </p:sp>
      <p:sp>
        <p:nvSpPr>
          <p:cNvPr id="207" name="cb_207"/>
          <p:cNvSpPr>
            <a:spLocks noGrp="1"/>
          </p:cNvSpPr>
          <p:nvPr/>
        </p:nvSpPr>
        <p:spPr>
          <a:xfrm>
            <a:off x="903370" y="27632567"/>
            <a:ext cx="10431553" cy="50947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Key Metrics:</a:t>
            </a:r>
            <a:endParaRPr lang="en-US" sz="240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R² Score: </a:t>
            </a: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97.02%  |  </a:t>
            </a: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Accuracy (±10%): </a:t>
            </a: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91.29%</a:t>
            </a:r>
            <a:endParaRPr lang="en-US" sz="240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MAE: </a:t>
            </a: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$7,071  | 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RMSE: </a:t>
            </a: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$8,846  | 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Speed: </a:t>
            </a: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&lt;1 sec</a:t>
            </a:r>
            <a:endParaRPr lang="en-US" sz="240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Model Comparison (R²):</a:t>
            </a:r>
            <a:endParaRPr lang="en-US" sz="240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★ SalaryLens: </a:t>
            </a: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97.02%  |  XGBoost: 96.98%</a:t>
            </a:r>
            <a:endParaRPr lang="en-US" sz="240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Extra Trees: 94.66%  |  Neural Net: 94.63%</a:t>
            </a:r>
            <a:endParaRPr lang="en-US" sz="240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strike="noStrike" spc="-1" dirty="0">
                <a:solidFill>
                  <a:srgbClr val="000000"/>
                </a:solidFill>
                <a:latin typeface="Calibri"/>
              </a:rPr>
              <a:t>Random Forest: 92.64%  |  Prior SOTA: 94.50%</a:t>
            </a:r>
            <a:endParaRPr lang="en-US" sz="240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pc="-1" dirty="0">
                <a:solidFill>
                  <a:srgbClr val="003087"/>
                </a:solidFill>
                <a:latin typeface="Calibri"/>
              </a:rPr>
              <a:t>5-Fold Cross-Validation</a:t>
            </a: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:</a:t>
            </a:r>
            <a:endParaRPr lang="en-US" sz="2400" dirty="0"/>
          </a:p>
          <a:p>
            <a:pPr>
              <a:lnSpc>
                <a:spcPct val="115000"/>
              </a:lnSpc>
              <a:spcBef>
                <a:spcPts val="100"/>
              </a:spcBef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Seniority Rank (12.3%) | Yrs Experience (10.8%)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Title Encoding (9.5%) |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Seniority×Exp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(8.7%)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 Rank (7.2%) | Industry Encoding (6.9%)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Skills×Exp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(6.1%) | Achievement Score (5.4%)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Paying City (4.8%) | Company Rank (4.3%)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 of Study Encoding (3.9%) | Num Skills (3.6%)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GPA×Edu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(3.2%) | Exp² (2.8%)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 per Year (2.4%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8" name="cb_208"/>
          <p:cNvSpPr>
            <a:spLocks noGrp="1"/>
          </p:cNvSpPr>
          <p:nvPr/>
        </p:nvSpPr>
        <p:spPr>
          <a:xfrm>
            <a:off x="9409428" y="27421767"/>
            <a:ext cx="6505660" cy="55818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Achievements: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✓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97.02% R² surpassing prior best of 94.5%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✓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End-to-end: resume upload → career planning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✓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Production-deployed on Streamlit Cloud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C00000"/>
                </a:solidFill>
                <a:latin typeface="Calibri"/>
              </a:rPr>
              <a:t>✓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Rigorous ablation study and cross-validation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Future Work: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→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Real-world validation on live job platforms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→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Geographic expansion + international currency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→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Temporal modeling for salary trend analysis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→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Fairness audit and demographic bias mitigation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→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Mobile app + multi-task learning</a:t>
            </a:r>
            <a:endParaRPr lang="en-US" sz="2400" b="0" dirty="0"/>
          </a:p>
        </p:txBody>
      </p:sp>
      <p:sp>
        <p:nvSpPr>
          <p:cNvPr id="209" name="cb_209"/>
          <p:cNvSpPr>
            <a:spLocks noGrp="1"/>
          </p:cNvSpPr>
          <p:nvPr/>
        </p:nvSpPr>
        <p:spPr>
          <a:xfrm>
            <a:off x="18451325" y="27461197"/>
            <a:ext cx="6513891" cy="51573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Job Seekers: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Data-driven salary benchmarking before negotiation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Recruiters/HR: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Competitive compensation benchmarking and pay equity analysis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Career Planners: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Simulate career decisions via what-if scenarios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Students: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Career path planning based on earning potential and skill value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Research: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Open-source ML pipeline for labor economics and salary modeling research</a:t>
            </a:r>
            <a:endParaRPr lang="en-US" sz="2400" b="0" dirty="0"/>
          </a:p>
        </p:txBody>
      </p:sp>
      <p:sp>
        <p:nvSpPr>
          <p:cNvPr id="210" name="cb_210"/>
          <p:cNvSpPr>
            <a:spLocks noGrp="1"/>
          </p:cNvSpPr>
          <p:nvPr/>
        </p:nvSpPr>
        <p:spPr>
          <a:xfrm>
            <a:off x="25244655" y="27421767"/>
            <a:ext cx="6950100" cy="41107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72000" rIns="91440" bIns="72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Real-Time Speed: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Sub-1-second predictions end-to-end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Superior Accuracy: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8% improvement over prior SOTA systems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Transparency: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SHAP feature importance reveals true salary drivers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Workplace Equity: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Tools to identify and address pay disparities</a:t>
            </a:r>
            <a:endParaRPr lang="en-US" sz="2400" b="0" dirty="0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2400" b="1" strike="noStrike" spc="-1" dirty="0">
                <a:solidFill>
                  <a:srgbClr val="003087"/>
                </a:solidFill>
                <a:latin typeface="Calibri"/>
              </a:rPr>
              <a:t>Accessibility: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WCAG AA compliant, responsive desktop and mobile</a:t>
            </a:r>
            <a:endParaRPr lang="en-US" sz="2400" b="0" dirty="0"/>
          </a:p>
        </p:txBody>
      </p:sp>
      <p:sp>
        <p:nvSpPr>
          <p:cNvPr id="40" name="Google Shape;93;p1">
            <a:extLst>
              <a:ext uri="{FF2B5EF4-FFF2-40B4-BE49-F238E27FC236}">
                <a16:creationId xmlns:a16="http://schemas.microsoft.com/office/drawing/2014/main" id="{79E3E11C-A2ED-DDAD-2643-EDD91AEFE2D4}"/>
              </a:ext>
            </a:extLst>
          </p:cNvPr>
          <p:cNvSpPr/>
          <p:nvPr/>
        </p:nvSpPr>
        <p:spPr>
          <a:xfrm>
            <a:off x="3300384" y="6027704"/>
            <a:ext cx="27077960" cy="136265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INVATI-2026 </a:t>
            </a:r>
            <a:endParaRPr sz="6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06E46-0F97-42D1-D116-545E24EBB2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8666" y="16259188"/>
            <a:ext cx="7223775" cy="90525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373164-ACCF-5B43-7F54-A5281A577A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23" y="27129776"/>
            <a:ext cx="6300229" cy="355702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7C4272E-7B6D-79BD-8DE3-31AC3DD381B4}"/>
              </a:ext>
            </a:extLst>
          </p:cNvPr>
          <p:cNvSpPr txBox="1"/>
          <p:nvPr/>
        </p:nvSpPr>
        <p:spPr>
          <a:xfrm>
            <a:off x="969723" y="26750887"/>
            <a:ext cx="4838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Performance:</a:t>
            </a:r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4615214-0F7F-C8C6-5447-2C04BD8BA4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67" y="31235254"/>
            <a:ext cx="7193295" cy="35661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</TotalTime>
  <Words>941</Words>
  <Application>Microsoft Office PowerPoint</Application>
  <PresentationFormat>Custom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Abadi</vt:lpstr>
      <vt:lpstr>Aptos Black</vt:lpstr>
      <vt:lpstr>Arial</vt:lpstr>
      <vt:lpstr>Calibri</vt:lpstr>
      <vt:lpstr>Calibri Light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mohan</dc:creator>
  <cp:lastModifiedBy>Mohan Acharaya</cp:lastModifiedBy>
  <cp:revision>10</cp:revision>
  <dcterms:modified xsi:type="dcterms:W3CDTF">2026-04-25T15:52:41Z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2017-01-04T16:35:14Z</dcterms:created>
  <dc:creator>Seema Acharya</dc:creator>
  <dc:description/>
  <dc:language>en-US</dc:language>
  <cp:lastModifiedBy>SHOBHA P</cp:lastModifiedBy>
  <dcterms:modified xsi:type="dcterms:W3CDTF">2026-04-02T04:13:35Z</dcterms:modified>
  <cp:revision>94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2015-08-06T00:00:00Z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2017-01-04T00:00:00Z</vt:filetime>
  </property>
</Properties>
</file>